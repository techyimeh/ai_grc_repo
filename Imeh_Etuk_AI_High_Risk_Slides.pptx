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AD2596-80E0-CC5E-C70E-DB603BA999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05886-22BE-E50B-0EB2-445515D580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9798D-F542-44E6-9F0A-29F646A876E6}" type="datetimeFigureOut">
              <a:rPr lang="LID4096" smtClean="0"/>
              <a:t>04/30/2026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F52B7-7406-EE6D-949E-6A2E79199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DEABD-C17C-A15E-3F20-C9BE626CE1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68F72-CB96-47DD-A9C2-FB0BC0F045D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680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782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illustration-of-ai-governance-and_2026-04-30T09-39-25_image_DAS_0.jpg"/>
          <p:cNvPicPr>
            <a:picLocks noChangeAspect="1"/>
          </p:cNvPicPr>
          <p:nvPr/>
        </p:nvPicPr>
        <p:blipFill>
          <a:blip r:embed="rId3">
            <a:alphaModFix amt="70000"/>
          </a:blip>
          <a:srcRect l="25111" r="25111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LID4096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2"/>
          <p:cNvSpPr/>
          <p:nvPr/>
        </p:nvSpPr>
        <p:spPr>
          <a:xfrm>
            <a:off x="1312605" y="1046398"/>
            <a:ext cx="4260715" cy="650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HIGH-RISK</a:t>
            </a: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7160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19978" y="1874520"/>
            <a:ext cx="3876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 |  Article 6 + Annex III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7315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Guide for AI Teams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5EB6E-0961-9E1E-FEDB-E5DB12910456}"/>
              </a:ext>
            </a:extLst>
          </p:cNvPr>
          <p:cNvSpPr txBox="1"/>
          <p:nvPr/>
        </p:nvSpPr>
        <p:spPr>
          <a:xfrm>
            <a:off x="7043830" y="4788054"/>
            <a:ext cx="23744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Your AI System Part of a Regulated Product?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0287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medical device, machinery, aviation components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0" cy="146304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" cy="1463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+ requires third-party conformity assessment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HIGH-RISK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compliance required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840480" cy="146304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9"/>
          <p:cNvSpPr/>
          <p:nvPr/>
        </p:nvSpPr>
        <p:spPr>
          <a:xfrm>
            <a:off x="4754880" y="178308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502920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not a regulated product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860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to Annex III use case check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94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6(1) Logic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71600" y="3977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embedded in products covered by EU harmonisation legislation listed in Annex I are automatically classified as high-risk if they require a third-party conformity assessment under that legislation.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F85C4-0A8F-1D93-3FAF-5D56AACEAED1}"/>
              </a:ext>
            </a:extLst>
          </p:cNvPr>
          <p:cNvSpPr txBox="1"/>
          <p:nvPr/>
        </p:nvSpPr>
        <p:spPr>
          <a:xfrm>
            <a:off x="7052678" y="4797028"/>
            <a:ext cx="418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bg2">
                  <a:lumMod val="90000"/>
                </a:schemeClr>
              </a:solidFill>
            </a:endParaRPr>
          </a:p>
          <a:p>
            <a:endParaRPr lang="LID4096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III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Fall Into These Categories?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01952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087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recognition,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biometrics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1371600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901952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554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15087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9748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Energy, transport,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water, digital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1371600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4572000" y="1371600"/>
            <a:ext cx="1901952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554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15087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70916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Grading, admissions,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assessment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83680" y="1371600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5"/>
          <p:cNvSpPr/>
          <p:nvPr/>
        </p:nvSpPr>
        <p:spPr>
          <a:xfrm>
            <a:off x="6583680" y="1371600"/>
            <a:ext cx="1901952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5544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15087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&amp;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20840" y="2011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Hiring, monitoring,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eval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2761488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5" name="Shape 19"/>
          <p:cNvSpPr/>
          <p:nvPr/>
        </p:nvSpPr>
        <p:spPr>
          <a:xfrm>
            <a:off x="548640" y="2761488"/>
            <a:ext cx="1901952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9443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289864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85800" y="3401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pricing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60320" y="2761488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3"/>
          <p:cNvSpPr/>
          <p:nvPr/>
        </p:nvSpPr>
        <p:spPr>
          <a:xfrm>
            <a:off x="2560320" y="2761488"/>
            <a:ext cx="1901952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29443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063240" y="289864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697480" y="3401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policing,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analysis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72000" y="2761488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5" name="Shape 27"/>
          <p:cNvSpPr/>
          <p:nvPr/>
        </p:nvSpPr>
        <p:spPr>
          <a:xfrm>
            <a:off x="4572000" y="2761488"/>
            <a:ext cx="1901952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294436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74920" y="289864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&amp;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Control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709160" y="3401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assessment,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583680" y="2761488"/>
            <a:ext cx="1901952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0" name="Shape 31"/>
          <p:cNvSpPr/>
          <p:nvPr/>
        </p:nvSpPr>
        <p:spPr>
          <a:xfrm>
            <a:off x="6583680" y="2761488"/>
            <a:ext cx="1901952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294436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86600" y="289864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&amp;</a:t>
            </a:r>
            <a:endParaRPr lang="en-US" sz="1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Democracy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6720840" y="3401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Sentencing support,</a:t>
            </a:r>
            <a:endParaRPr lang="en-US" sz="9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election influence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48640" y="4160520"/>
            <a:ext cx="3657600" cy="6400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Text 35"/>
          <p:cNvSpPr/>
          <p:nvPr/>
        </p:nvSpPr>
        <p:spPr>
          <a:xfrm>
            <a:off x="73152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 →  Continue to Exception Test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4389120" y="4160520"/>
            <a:ext cx="4206240" cy="64008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7" name="Text 37"/>
          <p:cNvSpPr/>
          <p:nvPr/>
        </p:nvSpPr>
        <p:spPr>
          <a:xfrm>
            <a:off x="4572000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 →  MINIMAL RISK (basic validation only)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A0A9AB-5FC3-E425-F194-E6A47BEFF39E}"/>
              </a:ext>
            </a:extLst>
          </p:cNvPr>
          <p:cNvSpPr txBox="1"/>
          <p:nvPr/>
        </p:nvSpPr>
        <p:spPr>
          <a:xfrm>
            <a:off x="7086600" y="4818888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bg2">
                  <a:lumMod val="90000"/>
                </a:schemeClr>
              </a:solidFill>
            </a:endParaRPr>
          </a:p>
          <a:p>
            <a:endParaRPr lang="LID4096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Step: Can You Exempt Your System?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399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materially influence decisions?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709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output directly affects outcomes for individuals without meaningful intermediate steps.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359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humans meaningfully override it?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670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qualified professional can review, challenge, and reverse the AI's recommendation before action is taken.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319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purely supportive / recommendation-based?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630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only assists human decision-making without autonomous authority over final outcomes.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7083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34440" y="4297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questions determine whether Article 6(3) exemptions apply. Document your answers thoroughly.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FC1171-8E34-5395-980C-16242F9821E1}"/>
              </a:ext>
            </a:extLst>
          </p:cNvPr>
          <p:cNvSpPr txBox="1"/>
          <p:nvPr/>
        </p:nvSpPr>
        <p:spPr>
          <a:xfrm>
            <a:off x="7008479" y="4852219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bg2">
                  <a:lumMod val="90000"/>
                </a:schemeClr>
              </a:solidFill>
            </a:endParaRPr>
          </a:p>
          <a:p>
            <a:endParaRPr lang="LID4096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Your Classification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7315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Influences outcomes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materially affects decisions about individuals. Full lifecycle controls required under Article 6.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POSSIBLY NOT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+ strong oversight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is purely supportive with meaningful human override. Must document justification per Art. 6(3).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560320" cy="7315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0350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TREAT AS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HIGH-RISK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apply the safe approach. Classify as high-risk until a thorough assessment proves otherwise.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AI impacts people's rights, access or safety at scale → classify as high-risk until proven otherwise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0CAAB-B049-75B2-E4A2-527D14C1C917}"/>
              </a:ext>
            </a:extLst>
          </p:cNvPr>
          <p:cNvSpPr txBox="1"/>
          <p:nvPr/>
        </p:nvSpPr>
        <p:spPr>
          <a:xfrm>
            <a:off x="6651523" y="5036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LID4096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52B727-8FAD-6E5A-01E3-CD9F7EDBBE60}"/>
              </a:ext>
            </a:extLst>
          </p:cNvPr>
          <p:cNvSpPr txBox="1"/>
          <p:nvPr/>
        </p:nvSpPr>
        <p:spPr>
          <a:xfrm>
            <a:off x="7079226" y="4851908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bg2">
                  <a:lumMod val="90000"/>
                </a:schemeClr>
              </a:solidFill>
            </a:endParaRPr>
          </a:p>
          <a:p>
            <a:endParaRPr lang="LID4096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HIGH-RISK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Compliance Controls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548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(ISO 42001)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accountability frameworks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&amp; quality assurance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mechanisms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 &amp; logging systems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documentation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Post-market monitoring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4754880" y="1371600"/>
            <a:ext cx="3840480" cy="548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173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(NIST AI RMF)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029200" y="21031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5"/>
          <p:cNvSpPr/>
          <p:nvPr/>
        </p:nvSpPr>
        <p:spPr>
          <a:xfrm>
            <a:off x="502920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0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policies, roles, accountability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0" y="26517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Text 19"/>
          <p:cNvSpPr/>
          <p:nvPr/>
        </p:nvSpPr>
        <p:spPr>
          <a:xfrm>
            <a:off x="50292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0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categorize AI risks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29200" y="32004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7" name="Text 23"/>
          <p:cNvSpPr/>
          <p:nvPr/>
        </p:nvSpPr>
        <p:spPr>
          <a:xfrm>
            <a:off x="502920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6400" y="3364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&amp; quantify risk levels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029200" y="37490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Text 27"/>
          <p:cNvSpPr/>
          <p:nvPr/>
        </p:nvSpPr>
        <p:spPr>
          <a:xfrm>
            <a:off x="502920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48640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8640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Treat, monitor, and report risks</a:t>
            </a:r>
            <a:endParaRPr lang="en-US" sz="1000" dirty="0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C1A1B0FC-5A77-87AB-4B5F-76C97209CAAB}"/>
              </a:ext>
            </a:extLst>
          </p:cNvPr>
          <p:cNvSpPr/>
          <p:nvPr/>
        </p:nvSpPr>
        <p:spPr>
          <a:xfrm>
            <a:off x="1923190" y="411480"/>
            <a:ext cx="230075" cy="2057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4A4CF2-637F-4B63-2EA8-E9CD67E87875}"/>
              </a:ext>
            </a:extLst>
          </p:cNvPr>
          <p:cNvSpPr txBox="1"/>
          <p:nvPr/>
        </p:nvSpPr>
        <p:spPr>
          <a:xfrm>
            <a:off x="4114800" y="211639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827E6C-C432-EAD6-DADF-282C4DE4C390}"/>
              </a:ext>
            </a:extLst>
          </p:cNvPr>
          <p:cNvSpPr txBox="1"/>
          <p:nvPr/>
        </p:nvSpPr>
        <p:spPr>
          <a:xfrm>
            <a:off x="6459839" y="4543782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bg2">
                  <a:lumMod val="90000"/>
                </a:schemeClr>
              </a:solidFill>
            </a:endParaRPr>
          </a:p>
          <a:p>
            <a:endParaRPr lang="LID4096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AI Act Risk Classification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01952" cy="21945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01952" cy="54864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scoring, real-time mass biometric surveillance, manipulation of vulnerable groups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01952" cy="219456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01952" cy="54864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697480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controls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3774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III use cases + regulated products requiring conformity assessment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1901952" cy="2194560"/>
          </a:xfrm>
          <a:prstGeom prst="rect">
            <a:avLst/>
          </a:prstGeom>
          <a:solidFill>
            <a:srgbClr val="78350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1901952" cy="54864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709160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obligations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3774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Chatbots, Deepfakes, Emotion recognition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1371600"/>
            <a:ext cx="1901952" cy="219456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6583680" y="1371600"/>
            <a:ext cx="1901952" cy="54864"/>
          </a:xfrm>
          <a:prstGeom prst="rect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720840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19202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3774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games, spam filters, inventory management 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LID4096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41648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8016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280160" y="416966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AI impacts people's rights, access or safety at scale, it's </a:t>
            </a: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until proven otherwise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E2488D-9949-D787-91FC-F29E92A73B0C}"/>
              </a:ext>
            </a:extLst>
          </p:cNvPr>
          <p:cNvSpPr txBox="1"/>
          <p:nvPr/>
        </p:nvSpPr>
        <p:spPr>
          <a:xfrm>
            <a:off x="7070399" y="4798814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https://www.linkedin.com/in/imeh-etuk/</a:t>
            </a:r>
            <a:endParaRPr lang="LID4096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LID4096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606</Words>
  <Application>Microsoft Office PowerPoint</Application>
  <PresentationFormat>On-screen Show (16:9)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Arial Black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Imeh Etuk</dc:creator>
  <cp:lastModifiedBy>Imeh Etuk</cp:lastModifiedBy>
  <cp:revision>2</cp:revision>
  <dcterms:created xsi:type="dcterms:W3CDTF">2026-04-30T09:45:24Z</dcterms:created>
  <dcterms:modified xsi:type="dcterms:W3CDTF">2026-04-30T11:01:58Z</dcterms:modified>
</cp:coreProperties>
</file>